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d70f46631044dc" /><Relationship Type="http://schemas.openxmlformats.org/officeDocument/2006/relationships/extended-properties" Target="/docProps/app.xml" Id="Rb8ad0f1f451c49cf" /><Relationship Type="http://schemas.openxmlformats.org/officeDocument/2006/relationships/officeDocument" Target="/ppt/presentation.xml" Id="R2eac41f95bde42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1361edce8945ee"/>
  </p:sldMasterIdLst>
  <p:notesMasterIdLst>
    <p:notesMasterId xmlns:r="http://schemas.openxmlformats.org/officeDocument/2006/relationships" r:id="R3b4dd537390041b3"/>
  </p:notesMasterIdLst>
  <p:sldIdLst>
    <p:sldId xmlns:r="http://schemas.openxmlformats.org/officeDocument/2006/relationships" id="256" r:id="R84361373d93040a6"/>
    <p:sldId xmlns:r="http://schemas.openxmlformats.org/officeDocument/2006/relationships" id="257" r:id="R8ac61a0e858b4e4a"/>
    <p:sldId xmlns:r="http://schemas.openxmlformats.org/officeDocument/2006/relationships" id="258" r:id="R57124be8a87b4961"/>
    <p:sldId xmlns:r="http://schemas.openxmlformats.org/officeDocument/2006/relationships" id="259" r:id="R24d7825bbe374d66"/>
    <p:sldId xmlns:r="http://schemas.openxmlformats.org/officeDocument/2006/relationships" id="260" r:id="Rc7aa191b7a0445bd"/>
    <p:sldId xmlns:r="http://schemas.openxmlformats.org/officeDocument/2006/relationships" id="261" r:id="R9ec13fdbaf634333"/>
    <p:sldId xmlns:r="http://schemas.openxmlformats.org/officeDocument/2006/relationships" id="262" r:id="Rc296014d2ae549ff"/>
    <p:sldId xmlns:r="http://schemas.openxmlformats.org/officeDocument/2006/relationships" id="263" r:id="R8833f1b8465c4e5a"/>
    <p:sldId xmlns:r="http://schemas.openxmlformats.org/officeDocument/2006/relationships" id="264" r:id="Ra3db2159e19e4b5a"/>
    <p:sldId xmlns:r="http://schemas.openxmlformats.org/officeDocument/2006/relationships" id="265" r:id="R93770f0b19ce4e5e"/>
    <p:sldId xmlns:r="http://schemas.openxmlformats.org/officeDocument/2006/relationships" id="266" r:id="Rb56301f2e4ef4d0b"/>
    <p:sldId xmlns:r="http://schemas.openxmlformats.org/officeDocument/2006/relationships" id="267" r:id="R77c0005d31944221"/>
    <p:sldId xmlns:r="http://schemas.openxmlformats.org/officeDocument/2006/relationships" id="268" r:id="R7f7509d739e849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d14496b4ce489a" /><Relationship Type="http://schemas.openxmlformats.org/officeDocument/2006/relationships/slideMaster" Target="/ppt/slideMasters/slideMaster1.xml" Id="R0c1361edce8945ee" /><Relationship Type="http://schemas.openxmlformats.org/officeDocument/2006/relationships/notesMaster" Target="/ppt/notesMasters/notesMaster1.xml" Id="R3b4dd537390041b3" /><Relationship Type="http://schemas.openxmlformats.org/officeDocument/2006/relationships/presProps" Target="/ppt/presProps.xml" Id="Ra7deaf2b110f47ca" /><Relationship Type="http://schemas.openxmlformats.org/officeDocument/2006/relationships/tableStyles" Target="/ppt/tableStyles.xml" Id="R268755fe1b704128" /><Relationship Type="http://schemas.openxmlformats.org/officeDocument/2006/relationships/slide" Target="/ppt/slides/slide1.xml" Id="R84361373d93040a6" /><Relationship Type="http://schemas.openxmlformats.org/officeDocument/2006/relationships/slide" Target="/ppt/slides/slide2.xml" Id="R8ac61a0e858b4e4a" /><Relationship Type="http://schemas.openxmlformats.org/officeDocument/2006/relationships/slide" Target="/ppt/slides/slide3.xml" Id="R57124be8a87b4961" /><Relationship Type="http://schemas.openxmlformats.org/officeDocument/2006/relationships/slide" Target="/ppt/slides/slide4.xml" Id="R24d7825bbe374d66" /><Relationship Type="http://schemas.openxmlformats.org/officeDocument/2006/relationships/slide" Target="/ppt/slides/slide5.xml" Id="Rc7aa191b7a0445bd" /><Relationship Type="http://schemas.openxmlformats.org/officeDocument/2006/relationships/slide" Target="/ppt/slides/slide6.xml" Id="R9ec13fdbaf634333" /><Relationship Type="http://schemas.openxmlformats.org/officeDocument/2006/relationships/slide" Target="/ppt/slides/slide7.xml" Id="Rc296014d2ae549ff" /><Relationship Type="http://schemas.openxmlformats.org/officeDocument/2006/relationships/slide" Target="/ppt/slides/slide8.xml" Id="R8833f1b8465c4e5a" /><Relationship Type="http://schemas.openxmlformats.org/officeDocument/2006/relationships/slide" Target="/ppt/slides/slide9.xml" Id="Ra3db2159e19e4b5a" /><Relationship Type="http://schemas.openxmlformats.org/officeDocument/2006/relationships/slide" Target="/ppt/slides/slide10.xml" Id="R93770f0b19ce4e5e" /><Relationship Type="http://schemas.openxmlformats.org/officeDocument/2006/relationships/slide" Target="/ppt/slides/slide11.xml" Id="Rb56301f2e4ef4d0b" /><Relationship Type="http://schemas.openxmlformats.org/officeDocument/2006/relationships/slide" Target="/ppt/slides/slide12.xml" Id="R77c0005d31944221" /><Relationship Type="http://schemas.openxmlformats.org/officeDocument/2006/relationships/slide" Target="/ppt/slides/slide13.xml" Id="R7f7509d739e849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f5857159e145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d428be6b5b42ea" /><Relationship Type="http://schemas.openxmlformats.org/officeDocument/2006/relationships/notesMaster" Target="/ppt/notesMasters/notesMaster1.xml" Id="Radfa498f0c8947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d72d4195be42d1" /><Relationship Type="http://schemas.openxmlformats.org/officeDocument/2006/relationships/notesMaster" Target="/ppt/notesMasters/notesMaster1.xml" Id="Rc9c9066b97234d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78123c419d490a" /><Relationship Type="http://schemas.openxmlformats.org/officeDocument/2006/relationships/notesMaster" Target="/ppt/notesMasters/notesMaster1.xml" Id="R042c082e055846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3479bd08a14f4c" /><Relationship Type="http://schemas.openxmlformats.org/officeDocument/2006/relationships/notesMaster" Target="/ppt/notesMasters/notesMaster1.xml" Id="R4b553f952fd147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1a3f1ad5cf41df" /><Relationship Type="http://schemas.openxmlformats.org/officeDocument/2006/relationships/notesMaster" Target="/ppt/notesMasters/notesMaster1.xml" Id="R803bea32e3f645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dc753b08a14beb" /><Relationship Type="http://schemas.openxmlformats.org/officeDocument/2006/relationships/notesMaster" Target="/ppt/notesMasters/notesMaster1.xml" Id="R52d3a8a8869140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34c4d7126f4a1b" /><Relationship Type="http://schemas.openxmlformats.org/officeDocument/2006/relationships/notesMaster" Target="/ppt/notesMasters/notesMaster1.xml" Id="R61d3c47d5dee4e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d77430c42f4add" /><Relationship Type="http://schemas.openxmlformats.org/officeDocument/2006/relationships/notesMaster" Target="/ppt/notesMasters/notesMaster1.xml" Id="R73b9149ed64c4c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786ee02957412d" /><Relationship Type="http://schemas.openxmlformats.org/officeDocument/2006/relationships/notesMaster" Target="/ppt/notesMasters/notesMaster1.xml" Id="R6e100750e5354a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3d7358bde84ee9" /><Relationship Type="http://schemas.openxmlformats.org/officeDocument/2006/relationships/notesMaster" Target="/ppt/notesMasters/notesMaster1.xml" Id="R3624280503b343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5771b232134767" /><Relationship Type="http://schemas.openxmlformats.org/officeDocument/2006/relationships/notesMaster" Target="/ppt/notesMasters/notesMaster1.xml" Id="R0f4b6e9e65b247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1f13eb16e64433" /><Relationship Type="http://schemas.openxmlformats.org/officeDocument/2006/relationships/notesMaster" Target="/ppt/notesMasters/notesMaster1.xml" Id="Rb888b8a5e95a46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02e70f90ab4b79" /><Relationship Type="http://schemas.openxmlformats.org/officeDocument/2006/relationships/notesMaster" Target="/ppt/notesMasters/notesMaster1.xml" Id="R8d351084c1f54c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 вёл Messengers2amo от идеи до интеграции, тестового пилота и публикации исходников. Задача — создать собственную альтернативу сервису интеграции мессенджеров для одной компании. Менеджеры сохраняют привычное рабочее место в amoCRM, а наша система управляет связью с каналами, обработкой обращений и файлами. В рассказе покажу проблему, получившийся продукт, технологии, реальные препятствия и результаты проверок.</a:t>
            </a:r>
          </a:p>
          <a:p xmlns:a="http://schemas.openxmlformats.org/drawingml/2006/main">
            <a:r>
              <a:t>Источник: https://github.com/impossi8le/messengers2amo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Нужен был собственный управляемый слой интеграции рядом с действующим Wazzup. Сообщения разных каналов требуется связывать с контактом, сделкой и ответственным. Команде нужно понимать, какие обращения ждут реакции. Компании нужен контроль правил, размещения и исходного кода. Я не заявляю измеренную экономию или окупаемость: для них нужны отдельные данные.</a:t>
            </a:r>
          </a:p>
          <a:p xmlns:a="http://schemas.openxmlformats.org/drawingml/2006/main">
            <a:r>
              <a:t>Источник: docs/messenger-platform-requirements.ru.md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Моя ответственность охватывала полный цикл: формулировку задачи и границ первого запуска, ведение разработки API, интерфейса и интеграций, организацию доступов и работу с поддержкой amoCRM, тестирование, диагностику, пилот и открытую публикацию. На техническом обсуждении могу разобрать конкретные решения, инструменты и способы проверки результата.</a:t>
            </a:r>
          </a:p>
          <a:p xmlns:a="http://schemas.openxmlformats.org/drawingml/2006/main">
            <a:r>
              <a:t>Источники: README.md; docs/requirements/access-request.ru.md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менеджера результатом стал диалог Telegram в штатном чате amoCRM с контактом, сделкой и профилем отправителя. Для команды реализованы очередь, назначения, история и учёт ожидания ответа. Для администратора есть подключения, маршруты, роли и диагностика. Сквозной пилот подтверждён для Telegram. Другие адаптеры требуют собственных доступов и отдельных проверок.</a:t>
            </a:r>
          </a:p>
          <a:p xmlns:a="http://schemas.openxmlformats.org/drawingml/2006/main">
            <a:r>
              <a:t>Источник: README.md; docs/presentation/case-study.md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Публичный репозиторий позволяет изучить логику и проверить обработку данных. Собственное размещение даёт контроль окружения и обновлений. Архитектура допускает новые адаптеры и правила под задачи компании. При этом остаются расходы на инфраструктуру, сопровождение и ограничения внешних API. Формальная open-source лицензия для внешнего использования пока не выбрана.</a:t>
            </a:r>
          </a:p>
          <a:p xmlns:a="http://schemas.openxmlformats.org/drawingml/2006/main">
            <a:r>
              <a:t>Источник: https://github.com/impossi8le/messengers2amo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 использует Node.js 24, TypeScript и Fastify. PostgreSQL хранит доменные данные и очереди. React, Vite и RTK Query поддерживают консоль управления. Docker Compose разделяет API, worker и БД, Nginx завершает HTTPS. Проверки используют Node test runner, Vitest, TypeScript и GitHub Actions. S3 поддерживается кодом; в описанном реальном пилоте файлы передавались через amoCRM Files API.</a:t>
            </a:r>
          </a:p>
          <a:p xmlns:a="http://schemas.openxmlformats.org/drawingml/2006/main">
            <a:r>
              <a:t>Источники: apps/api/package.json; apps/web/package.json; ops/deploy/messengers2amo/docker-compose.yml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Событие приходит через webhook или polling, сохраняется в inbox PostgreSQL и обрабатывается worker. Система связывает сообщение с доменом и CRM. Ответ из amoCRM попадает в очередь исходящих, после чего worker проверяет право отправки и вызывает адаптер. Это создаёт точку фиксации в нашей БД, но не даёт абсолютной гарантии exactly-once во внешней сети.</a:t>
            </a:r>
          </a:p>
          <a:p xmlns:a="http://schemas.openxmlformats.org/drawingml/2006/main">
            <a:r>
              <a:t>Источники: apps/api/src/telegram/inbox.ts; apps/api/src/telegram/send.ts; apps/api/src/worker.ts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OAuth для REST и регистрация Chats API канала — разные этапы. Для канала нужно обратиться в техническую поддержку, передать название, HTTPS-webhook, список аккаунтов, SVG-иконку и ответы о функциях. В ответ предоставляются параметры доступа. В нашем проекте канал зарегистрирован 28 октября 2026. Уточнялись webhook v2 и отдельные каналы для разных мессенджеров. По зависанию загрузки вложений до webhook запрос на диагностику остаётся открытым.</a:t>
            </a:r>
          </a:p>
          <a:p xmlns:a="http://schemas.openxmlformats.org/drawingml/2006/main">
            <a:r>
              <a:t>Официальная документация: https://www.amocrm.ru/developers/content/chats/chat-start</a:t>
            </a:r>
          </a:p>
          <a:p xmlns:a="http://schemas.openxmlformats.org/drawingml/2006/main">
            <a:r>
              <a:t>Статус проекта: docs/presentation/case-study.md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импорте профиль отправителя отображался как «Клиент». После изменения проверены имена и аватары двух тестовых аккаунтов. Реальная подпись обратного webhook потребовала проверки исходных байтов с ограниченной обработкой внешних пробелов, без пересериализации JSON. Для вложений разделены серверная передача и зависание редактора amoCRM: backend проверен отдельно, внешняя проблема передана поддержке.</a:t>
            </a:r>
          </a:p>
          <a:p xmlns:a="http://schemas.openxmlformats.org/drawingml/2006/main">
            <a:r>
              <a:t>Источник: docs/presentation/case-study.md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Повторные события защищены уникальными ключами и fingerprint. Timeout с неясным результатом сохраняется как unknown и не вызывает слепой повтор. Версия назначения, lease и fence worker защищают от конкурирующих и устаревших действий. Эти механизмы решают разные задачи и не заменяют сквозную проверку провайдера.</a:t>
            </a:r>
          </a:p>
          <a:p xmlns:a="http://schemas.openxmlformats.org/drawingml/2006/main">
            <a:r>
              <a:t>Источники: apps/api/src/telegram/inbox.ts; apps/api/src/telegram/send.ts; apps/api/src/repo/assignment.ts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29 октября 2026 текст прошёл в обе стороны в двух отдельных тестовых диалогах Telegram и amoCRM. Профили отправителей подтверждены визуально. Входящие JPEG и TXT скачаны из amoCRM с проверкой SHA-256. Серверная исходящая отправка фото и TXT проверена в двух диалогах. Полный путь исходящего вложения через редактор CRM пока не подтверждён. 919 тестов относятся к первоначальному публичному снимку, 616 — к отдельному кандидату вложений. Эти наборы пересекаются и не суммируются.</a:t>
            </a:r>
          </a:p>
          <a:p xmlns:a="http://schemas.openxmlformats.org/drawingml/2006/main">
            <a:r>
              <a:t>Источник: docs/presentation/case-study.md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Нужно получить конкретный ответ поддержки по зависанию загрузки и повторить путь через кнопку «Отправить». Затем проверить другие каналы и полный цикл обработки обязательств. Для внешнего переиспользования исходников нужно оформить лицензию. Также остаются обновление зависимости Zod по npm audit и измерение нагрузки. Глобальная исходящая отправка вне ограниченного пилота не включалась.</a:t>
            </a:r>
          </a:p>
          <a:p xmlns:a="http://schemas.openxmlformats.org/drawingml/2006/main">
            <a:r>
              <a:t>Источники: docs/amocrm/outbound-files.ru.md; .github/workflows/security.yml; docs/presentation/case-study.md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 взял потребность собственной интеграции мессенджеров с amoCRM и довёл её до проверяемого результата: серверного шлюза, интерфейса управления, пилота и публичного исходного кода. В работе были внешние доступы, согласование канала с поддержкой, реальные ошибки и повторные проверки. Могу открыть репозиторий и подробно разобрать один из этих эпизодов.</a:t>
            </a:r>
          </a:p>
          <a:p xmlns:a="http://schemas.openxmlformats.org/drawingml/2006/main">
            <a:r>
              <a:t>Репозиторий: https://github.com/impossi8le/messengers2amo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bf5075c4744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eddc1ec2545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f8a1657eca4a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1a74f0f3348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da981f76e348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79a0b279641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756290-527F-4770-840A-8B5D3809D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5CCF8C5-8BCD-4FDE-B8D9-814403D85C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3D9DD2B-5CD6-444F-8F50-9F06674837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8D4F54-9BCA-49DA-9F1A-F96E02AF9F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93796BB-5A3C-456A-B127-4DE35793ED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35D467-B0EB-433D-817C-EEBC2B007F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2C2B3F-82D1-411B-A080-E1D545B8EA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4597D66-D3AC-4A9F-B08F-79073BA45D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3C2BB0-6E72-4024-A1B9-8D0E768FDD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78300B-4803-4419-80EF-75F52B89E9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0eee5065ad4735" /><Relationship Type="http://schemas.openxmlformats.org/officeDocument/2006/relationships/slideLayout" Target="/ppt/slideLayouts/slideLayout1.xml" Id="R9bba2c2e60e74f14" /><Relationship Type="http://schemas.openxmlformats.org/officeDocument/2006/relationships/slideLayout" Target="/ppt/slideLayouts/slideLayout2.xml" Id="R13071cc4946c4096" /><Relationship Type="http://schemas.openxmlformats.org/officeDocument/2006/relationships/slideLayout" Target="/ppt/slideLayouts/slideLayout3.xml" Id="R5f6c25bbceb2411f" /><Relationship Type="http://schemas.openxmlformats.org/officeDocument/2006/relationships/slideLayout" Target="/ppt/slideLayouts/slideLayout4.xml" Id="R10ee2ebb5f764048" /><Relationship Type="http://schemas.openxmlformats.org/officeDocument/2006/relationships/slideLayout" Target="/ppt/slideLayouts/slideLayout5.xml" Id="R70fb088f48c642a9" /><Relationship Type="http://schemas.openxmlformats.org/officeDocument/2006/relationships/slideLayout" Target="/ppt/slideLayouts/slideLayout6.xml" Id="Raf1a0c3c5ac940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ba2c2e60e74f14"/>
    <p:sldLayoutId xmlns:r="http://schemas.openxmlformats.org/officeDocument/2006/relationships" id="2147483650" r:id="R13071cc4946c4096"/>
    <p:sldLayoutId xmlns:r="http://schemas.openxmlformats.org/officeDocument/2006/relationships" id="2147483651" r:id="R5f6c25bbceb2411f"/>
    <p:sldLayoutId xmlns:r="http://schemas.openxmlformats.org/officeDocument/2006/relationships" id="2147483652" r:id="R10ee2ebb5f764048"/>
    <p:sldLayoutId xmlns:r="http://schemas.openxmlformats.org/officeDocument/2006/relationships" id="2147483653" r:id="R70fb088f48c642a9"/>
    <p:sldLayoutId xmlns:r="http://schemas.openxmlformats.org/officeDocument/2006/relationships" id="2147483654" r:id="Raf1a0c3c5ac940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0c7f4c59154e82" /><Relationship Type="http://schemas.openxmlformats.org/officeDocument/2006/relationships/notesSlide" Target="/ppt/notesSlides/notesSlide1.xml" Id="R7ed0a8dab97e4d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4283b908a40b3" /><Relationship Type="http://schemas.openxmlformats.org/officeDocument/2006/relationships/notesSlide" Target="/ppt/notesSlides/notesSlide2.xml" Id="R2628baab09cc4b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f3a7fc3e44a3e" /><Relationship Type="http://schemas.openxmlformats.org/officeDocument/2006/relationships/notesSlide" Target="/ppt/notesSlides/notesSlide3.xml" Id="Rbeb715a7eb6141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37e9d75a4a433c" /><Relationship Type="http://schemas.openxmlformats.org/officeDocument/2006/relationships/notesSlide" Target="/ppt/notesSlides/notesSlide4.xml" Id="Rbaba835ca89e4b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9b5ca7903e42e6" /><Relationship Type="http://schemas.openxmlformats.org/officeDocument/2006/relationships/notesSlide" Target="/ppt/notesSlides/notesSlide5.xml" Id="R3d9e70000b0c41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abfd68ad7447c" /><Relationship Type="http://schemas.openxmlformats.org/officeDocument/2006/relationships/notesSlide" Target="/ppt/notesSlides/notesSlide6.xml" Id="R29ae6a531fcf4f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8f7679eb0f43f6" /><Relationship Type="http://schemas.openxmlformats.org/officeDocument/2006/relationships/notesSlide" Target="/ppt/notesSlides/notesSlide7.xml" Id="R8961841aa85b45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1c20eaeba24814" /><Relationship Type="http://schemas.openxmlformats.org/officeDocument/2006/relationships/notesSlide" Target="/ppt/notesSlides/notesSlide8.xml" Id="Re15c9ea5af7d45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ef861e22194939" /><Relationship Type="http://schemas.openxmlformats.org/officeDocument/2006/relationships/notesSlide" Target="/ppt/notesSlides/notesSlide9.xml" Id="Rb045a4b58ed84e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0b8db96e184fc5" /><Relationship Type="http://schemas.openxmlformats.org/officeDocument/2006/relationships/notesSlide" Target="/ppt/notesSlides/notesSlide10.xml" Id="Raa663a7427b342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ea80802144c85" /><Relationship Type="http://schemas.openxmlformats.org/officeDocument/2006/relationships/image" Target="/ppt/media/image.jpeg" Id="Re063defa69dd4327" /><Relationship Type="http://schemas.openxmlformats.org/officeDocument/2006/relationships/notesSlide" Target="/ppt/notesSlides/notesSlide11.xml" Id="R3e3364484d2947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ed2892717c4aef" /><Relationship Type="http://schemas.openxmlformats.org/officeDocument/2006/relationships/notesSlide" Target="/ppt/notesSlides/notesSlide12.xml" Id="Rbf038cfa75d24a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0e8dceeb874142" /><Relationship Type="http://schemas.openxmlformats.org/officeDocument/2006/relationships/notesSlide" Target="/ppt/notesSlides/notesSlide13.xml" Id="R1c192e26cf3c40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DE7BC5D-3613-4EF3-9DBC-85EE7486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Messengers2amo</a:t>
            </a:r>
          </a:p>
        </p:txBody>
      </p:sp>
      <p:sp>
        <p:nvSpPr>
          <p:cNvPr id="3" name="product">
            <a:extLst xmlns:a="http://schemas.openxmlformats.org/drawingml/2006/main">
              <a:ext uri="{FF2B5EF4-FFF2-40B4-BE49-F238E27FC236}">
                <a16:creationId xmlns:a16="http://schemas.microsoft.com/office/drawing/2014/main" id="{81A5AF71-84FC-4262-AB97-B6DA219B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Свой шлюз мессенджеров</a:t>
            </a:r>
          </a:p>
          <a:p xmlns:a="http://schemas.openxmlformats.org/drawingml/2006/main">
            <a:pPr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amoCRM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AAB28BF-6449-4825-9AEF-91E12DFE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F2C7"/>
          </a:solidFill>
          <a:ln xmlns:a="http://schemas.openxmlformats.org/drawingml/2006/main" w="0">
            <a:noFill/>
          </a:ln>
        </p:spPr>
      </p:sp>
      <p:sp>
        <p:nvSpPr>
          <p:cNvPr id="5" name="ownership">
            <a:extLst xmlns:a="http://schemas.openxmlformats.org/drawingml/2006/main">
              <a:ext uri="{FF2B5EF4-FFF2-40B4-BE49-F238E27FC236}">
                <a16:creationId xmlns:a16="http://schemas.microsoft.com/office/drawing/2014/main" id="{C3CE713F-2D86-48B1-B14D-B2FE3B4B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C6DCD5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C6DCD5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C6DCD5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C6DCD5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C6DCD5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C6DCD5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C6DCD5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C6DCD5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C6DCD5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C6DC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C6DCD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6DCD5"/>
                </a:solidFill>
                <a:latin typeface="Arial"/>
                <a:ea typeface="Arial"/>
                <a:cs typeface="Arial"/>
              </a:rPr>
              <a:t>Мой проект: от идеи до интеграции,</a:t>
            </a:r>
          </a:p>
          <a:p xmlns:a="http://schemas.openxmlformats.org/drawingml/2006/main">
            <a:pPr>
              <a:defRPr sz="2250" b="0">
                <a:solidFill>
                  <a:srgbClr val="C6DCD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6DCD5"/>
                </a:solidFill>
                <a:latin typeface="Arial"/>
                <a:ea typeface="Arial"/>
                <a:cs typeface="Arial"/>
              </a:rPr>
              <a:t>тестового пилота и открытого кода</a:t>
            </a:r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29D91C8F-8EC7-4FC3-8976-64B905A7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D1D2"/>
                </a:solidFill>
                <a:latin typeface="Arial"/>
                <a:ea typeface="Arial"/>
                <a:cs typeface="Arial"/>
              </a:rPr>
              <a:t>Инженерный и продуктовый кейс, 29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681018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B47C66-DE9F-454C-88FA-4F594A57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Проблема: нужна управляемая альтернатива Wazzup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B2D3CE7-2126-4E8B-A8AF-07EDF152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problem">
            <a:extLst xmlns:a="http://schemas.openxmlformats.org/drawingml/2006/main">
              <a:ext uri="{FF2B5EF4-FFF2-40B4-BE49-F238E27FC236}">
                <a16:creationId xmlns:a16="http://schemas.microsoft.com/office/drawing/2014/main" id="{4AB67841-68D3-4D04-8236-799E9357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Как сохранить привычную работу в amoCRM</a:t>
            </a:r>
          </a:p>
          <a:p xmlns:a="http://schemas.openxmlformats.org/drawingml/2006/main">
            <a:pPr>
              <a:defRPr sz="2850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и взять под контроль слой интеграции?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08B96C3C-6850-4A4A-AAA0-BF1FA9A3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6" name="need-0">
            <a:extLst xmlns:a="http://schemas.openxmlformats.org/drawingml/2006/main">
              <a:ext uri="{FF2B5EF4-FFF2-40B4-BE49-F238E27FC236}">
                <a16:creationId xmlns:a16="http://schemas.microsoft.com/office/drawing/2014/main" id="{B6D035BE-8367-49F5-8A04-A94D1BE8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Обращения</a:t>
            </a:r>
          </a:p>
        </p:txBody>
      </p:sp>
      <p:sp>
        <p:nvSpPr>
          <p:cNvPr id="7" name="detail-0">
            <a:extLst xmlns:a="http://schemas.openxmlformats.org/drawingml/2006/main">
              <a:ext uri="{FF2B5EF4-FFF2-40B4-BE49-F238E27FC236}">
                <a16:creationId xmlns:a16="http://schemas.microsoft.com/office/drawing/2014/main" id="{AE9CC862-D36E-4A7B-B5F1-A7418FEE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Сообщения из разных каналов</a:t>
            </a:r>
          </a:p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нужно связать с контактом,</a:t>
            </a:r>
          </a:p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сделкой и ответственным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7E5402C1-FFC7-4361-BB19-9A3D47F7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337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9" name="need-1">
            <a:extLst xmlns:a="http://schemas.openxmlformats.org/drawingml/2006/main">
              <a:ext uri="{FF2B5EF4-FFF2-40B4-BE49-F238E27FC236}">
                <a16:creationId xmlns:a16="http://schemas.microsoft.com/office/drawing/2014/main" id="{AE569F61-9CE8-44B3-90B9-C9EEFFCF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195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Работа команды</a:t>
            </a:r>
          </a:p>
        </p:txBody>
      </p:sp>
      <p:sp>
        <p:nvSpPr>
          <p:cNvPr id="10" name="detail-1">
            <a:extLst xmlns:a="http://schemas.openxmlformats.org/drawingml/2006/main">
              <a:ext uri="{FF2B5EF4-FFF2-40B4-BE49-F238E27FC236}">
                <a16:creationId xmlns:a16="http://schemas.microsoft.com/office/drawing/2014/main" id="{79EC76ED-EA4F-44C2-A4F6-5A79E2B6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386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Нужно видеть, кто отвечает</a:t>
            </a:r>
          </a:p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и какие обращения</a:t>
            </a:r>
          </a:p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ещё ждут реакции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534411B7-FB29-45DB-9377-BD7CD23C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12" name="need-2">
            <a:extLst xmlns:a="http://schemas.openxmlformats.org/drawingml/2006/main">
              <a:ext uri="{FF2B5EF4-FFF2-40B4-BE49-F238E27FC236}">
                <a16:creationId xmlns:a16="http://schemas.microsoft.com/office/drawing/2014/main" id="{1BEF9153-29BB-4665-9846-954FEE92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Контроль решения</a:t>
            </a:r>
          </a:p>
        </p:txBody>
      </p:sp>
      <p:sp>
        <p:nvSpPr>
          <p:cNvPr id="13" name="detail-2">
            <a:extLst xmlns:a="http://schemas.openxmlformats.org/drawingml/2006/main">
              <a:ext uri="{FF2B5EF4-FFF2-40B4-BE49-F238E27FC236}">
                <a16:creationId xmlns:a16="http://schemas.microsoft.com/office/drawing/2014/main" id="{3816E2FC-2457-485F-89D9-4C82E0BB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386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Нужны свои правила,</a:t>
            </a:r>
          </a:p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свой сервер и доступ</a:t>
            </a:r>
          </a:p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к исходному коду</a:t>
            </a:r>
          </a:p>
        </p:txBody>
      </p:sp>
    </p:spTree>
    <p:extLst>
      <p:ext uri="{BB962C8B-B14F-4D97-AF65-F5344CB8AC3E}">
        <p14:creationId xmlns:p14="http://schemas.microsoft.com/office/powerpoint/2010/main" val="96664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0CC3D0-4542-42DE-9BEF-C24D45B3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Мой вклад: ответственность за весь цикл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29472022-7B79-4938-B255-93E42015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146DB65-6B4C-410F-8901-371B209E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45401458-3B1F-4E8B-A79E-5D0AF504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Идея и требования</a:t>
            </a:r>
          </a:p>
        </p:txBody>
      </p:sp>
      <p:sp>
        <p:nvSpPr>
          <p:cNvPr id="6" name="value-0">
            <a:extLst xmlns:a="http://schemas.openxmlformats.org/drawingml/2006/main">
              <a:ext uri="{FF2B5EF4-FFF2-40B4-BE49-F238E27FC236}">
                <a16:creationId xmlns:a16="http://schemas.microsoft.com/office/drawing/2014/main" id="{7CA0B877-6898-4DD2-95FB-D3967618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33575"/>
            <a:ext cx="7667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Определил задачу, функциональность</a:t>
            </a:r>
          </a:p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и границы первого запуска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FC10B1F0-4687-484D-8E72-B0D4BB7E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8" name="label-1">
            <a:extLst xmlns:a="http://schemas.openxmlformats.org/drawingml/2006/main">
              <a:ext uri="{FF2B5EF4-FFF2-40B4-BE49-F238E27FC236}">
                <a16:creationId xmlns:a16="http://schemas.microsoft.com/office/drawing/2014/main" id="{534DF987-F8BF-42EA-9676-DFA1DD10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Разработка</a:t>
            </a:r>
          </a:p>
        </p:txBody>
      </p:sp>
      <p:sp>
        <p:nvSpPr>
          <p:cNvPr id="9" name="value-1">
            <a:extLst xmlns:a="http://schemas.openxmlformats.org/drawingml/2006/main">
              <a:ext uri="{FF2B5EF4-FFF2-40B4-BE49-F238E27FC236}">
                <a16:creationId xmlns:a16="http://schemas.microsoft.com/office/drawing/2014/main" id="{0093D87A-799E-4A68-92D5-6C76AB3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90850"/>
            <a:ext cx="7667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Вёл создание API, интерфейса,</a:t>
            </a:r>
          </a:p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модели данных и интеграции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0C5A9179-15BB-4F77-8A41-C23A9E15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014FA213-1A1C-4D8E-A173-4D258015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Внешние зависимости</a:t>
            </a:r>
          </a:p>
        </p:txBody>
      </p:sp>
      <p:sp>
        <p:nvSpPr>
          <p:cNvPr id="12" name="value-2">
            <a:extLst xmlns:a="http://schemas.openxmlformats.org/drawingml/2006/main">
              <a:ext uri="{FF2B5EF4-FFF2-40B4-BE49-F238E27FC236}">
                <a16:creationId xmlns:a16="http://schemas.microsoft.com/office/drawing/2014/main" id="{A8EC372F-460E-45B1-8C7E-DA364E0C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48125"/>
            <a:ext cx="7667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Получил доступы, согласовал канал</a:t>
            </a:r>
          </a:p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и вёл диагностику с поддержкой amoCRM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13F5D596-6973-4EC7-A6D8-5B0EBC07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14" name="label-3">
            <a:extLst xmlns:a="http://schemas.openxmlformats.org/drawingml/2006/main">
              <a:ext uri="{FF2B5EF4-FFF2-40B4-BE49-F238E27FC236}">
                <a16:creationId xmlns:a16="http://schemas.microsoft.com/office/drawing/2014/main" id="{AFA83E43-81D8-423C-A884-AFA421D4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Доведение до результата</a:t>
            </a:r>
          </a:p>
        </p:txBody>
      </p:sp>
      <p:sp>
        <p:nvSpPr>
          <p:cNvPr id="15" name="value-3">
            <a:extLst xmlns:a="http://schemas.openxmlformats.org/drawingml/2006/main">
              <a:ext uri="{FF2B5EF4-FFF2-40B4-BE49-F238E27FC236}">
                <a16:creationId xmlns:a16="http://schemas.microsoft.com/office/drawing/2014/main" id="{8947AFFF-D96D-45BB-A50E-BBD3435A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05400"/>
            <a:ext cx="7667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Организовал тесты, диагностику,</a:t>
            </a:r>
          </a:p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ограниченный пилот и публикацию</a:t>
            </a:r>
          </a:p>
        </p:txBody>
      </p:sp>
    </p:spTree>
    <p:extLst>
      <p:ext uri="{BB962C8B-B14F-4D97-AF65-F5344CB8AC3E}">
        <p14:creationId xmlns:p14="http://schemas.microsoft.com/office/powerpoint/2010/main" val="846255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C6CD6A-5248-4371-9A14-3C2EB03B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Результат: интеграция и рабочие инструменты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A6267EE-0020-4824-B92D-ABCC1C4D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177BA98-A4AA-43BD-A4C0-125DDC6A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91C1D888-1B29-4FC5-BE1D-4829AD63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Для менеджера</a:t>
            </a:r>
          </a:p>
        </p:txBody>
      </p:sp>
      <p:sp>
        <p:nvSpPr>
          <p:cNvPr id="6" name="value-0">
            <a:extLst xmlns:a="http://schemas.openxmlformats.org/drawingml/2006/main">
              <a:ext uri="{FF2B5EF4-FFF2-40B4-BE49-F238E27FC236}">
                <a16:creationId xmlns:a16="http://schemas.microsoft.com/office/drawing/2014/main" id="{E8782BFB-C4CD-4E6E-A804-52C0120E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47875"/>
            <a:ext cx="7667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Диалог Telegram в штатном чате amoCRM,</a:t>
            </a:r>
          </a:p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контакт, сделка, имя и аватар клиента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E2E45539-F152-45E6-8B04-11340D11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8" name="label-1">
            <a:extLst xmlns:a="http://schemas.openxmlformats.org/drawingml/2006/main">
              <a:ext uri="{FF2B5EF4-FFF2-40B4-BE49-F238E27FC236}">
                <a16:creationId xmlns:a16="http://schemas.microsoft.com/office/drawing/2014/main" id="{34F84672-2291-44FE-9495-F3C981B4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Для команды</a:t>
            </a:r>
          </a:p>
        </p:txBody>
      </p:sp>
      <p:sp>
        <p:nvSpPr>
          <p:cNvPr id="9" name="value-1">
            <a:extLst xmlns:a="http://schemas.openxmlformats.org/drawingml/2006/main">
              <a:ext uri="{FF2B5EF4-FFF2-40B4-BE49-F238E27FC236}">
                <a16:creationId xmlns:a16="http://schemas.microsoft.com/office/drawing/2014/main" id="{BDC49491-D104-46E7-9B44-7AEB6166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7667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Очередь обращений, назначения,</a:t>
            </a:r>
          </a:p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история и ожидание ответа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4B75BAD-5A61-456A-9819-0D404D42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625033CA-F971-437F-890E-5F28AD38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Для администратора</a:t>
            </a:r>
          </a:p>
        </p:txBody>
      </p:sp>
      <p:sp>
        <p:nvSpPr>
          <p:cNvPr id="12" name="value-2">
            <a:extLst xmlns:a="http://schemas.openxmlformats.org/drawingml/2006/main">
              <a:ext uri="{FF2B5EF4-FFF2-40B4-BE49-F238E27FC236}">
                <a16:creationId xmlns:a16="http://schemas.microsoft.com/office/drawing/2014/main" id="{C44C1206-3BE9-4FA2-BFC0-C5DCFD79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9625"/>
            <a:ext cx="7667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Подключения, маршруты, роли,</a:t>
            </a:r>
          </a:p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состояние интеграции и диагностика</a:t>
            </a:r>
          </a:p>
        </p:txBody>
      </p:sp>
      <p:sp>
        <p:nvSpPr>
          <p:cNvPr id="13" name="scope">
            <a:extLst xmlns:a="http://schemas.openxmlformats.org/drawingml/2006/main">
              <a:ext uri="{FF2B5EF4-FFF2-40B4-BE49-F238E27FC236}">
                <a16:creationId xmlns:a16="http://schemas.microsoft.com/office/drawing/2014/main" id="{37444B0E-E29A-4BC4-99A3-AE0AFC5C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Telegram проверен в пилоте. WhatsApp Cloud, MAX и VK имеют адаптеры</a:t>
            </a:r>
          </a:p>
        </p:txBody>
      </p:sp>
    </p:spTree>
    <p:extLst>
      <p:ext uri="{BB962C8B-B14F-4D97-AF65-F5344CB8AC3E}">
        <p14:creationId xmlns:p14="http://schemas.microsoft.com/office/powerpoint/2010/main" val="753240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32EBEE9-5AAC-4413-8341-D9DA1C60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Преимущество: открытый код и своё размещение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FD4B8CC-3D19-4670-BD04-71434ECB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open">
            <a:extLst xmlns:a="http://schemas.openxmlformats.org/drawingml/2006/main">
              <a:ext uri="{FF2B5EF4-FFF2-40B4-BE49-F238E27FC236}">
                <a16:creationId xmlns:a16="http://schemas.microsoft.com/office/drawing/2014/main" id="{7EED313D-530A-474A-9192-D2D85BFC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36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36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36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36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36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36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36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36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36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Открытый исходный код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2B9BF599-F6DF-4F71-ACE3-0846DD34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6" name="benefit-0">
            <a:extLst xmlns:a="http://schemas.openxmlformats.org/drawingml/2006/main">
              <a:ext uri="{FF2B5EF4-FFF2-40B4-BE49-F238E27FC236}">
                <a16:creationId xmlns:a16="http://schemas.microsoft.com/office/drawing/2014/main" id="{4C34A42A-AC50-43D6-8449-1F2F5975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Прозрачность</a:t>
            </a:r>
          </a:p>
        </p:txBody>
      </p:sp>
      <p:sp>
        <p:nvSpPr>
          <p:cNvPr id="7" name="meaning-0">
            <a:extLst xmlns:a="http://schemas.openxmlformats.org/drawingml/2006/main">
              <a:ext uri="{FF2B5EF4-FFF2-40B4-BE49-F238E27FC236}">
                <a16:creationId xmlns:a16="http://schemas.microsoft.com/office/drawing/2014/main" id="{CCDD41A3-7662-4D4E-8212-7520802C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33337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Можно изучить логику,</a:t>
            </a:r>
          </a:p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проверить обработку данных</a:t>
            </a:r>
          </a:p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и оценить качество решений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977F7532-3C94-486A-ACFD-3FA0DFF2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9" name="benefit-1">
            <a:extLst xmlns:a="http://schemas.openxmlformats.org/drawingml/2006/main">
              <a:ext uri="{FF2B5EF4-FFF2-40B4-BE49-F238E27FC236}">
                <a16:creationId xmlns:a16="http://schemas.microsoft.com/office/drawing/2014/main" id="{9987AB54-88C3-4F48-B6B1-DFACDA3B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718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Развитие</a:t>
            </a:r>
          </a:p>
        </p:txBody>
      </p:sp>
      <p:sp>
        <p:nvSpPr>
          <p:cNvPr id="10" name="meaning-1">
            <a:extLst xmlns:a="http://schemas.openxmlformats.org/drawingml/2006/main">
              <a:ext uri="{FF2B5EF4-FFF2-40B4-BE49-F238E27FC236}">
                <a16:creationId xmlns:a16="http://schemas.microsoft.com/office/drawing/2014/main" id="{368D5D8D-3BD3-41D7-834A-0437CA35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33850"/>
            <a:ext cx="33337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Архитектура допускает</a:t>
            </a:r>
          </a:p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новые адаптеры и правила</a:t>
            </a:r>
          </a:p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под задачи компании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FA377E53-3773-41E0-A9FE-13780F74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670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12" name="benefit-2">
            <a:extLst xmlns:a="http://schemas.openxmlformats.org/drawingml/2006/main">
              <a:ext uri="{FF2B5EF4-FFF2-40B4-BE49-F238E27FC236}">
                <a16:creationId xmlns:a16="http://schemas.microsoft.com/office/drawing/2014/main" id="{AC464B08-A208-493B-81A1-2683096E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13" name="meaning-2">
            <a:extLst xmlns:a="http://schemas.openxmlformats.org/drawingml/2006/main">
              <a:ext uri="{FF2B5EF4-FFF2-40B4-BE49-F238E27FC236}">
                <a16:creationId xmlns:a16="http://schemas.microsoft.com/office/drawing/2014/main" id="{E2F89075-ECE3-4BFD-BD44-93367D5D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33850"/>
            <a:ext cx="33337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Свой сервер, свои данные,</a:t>
            </a:r>
          </a:p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свой график обновлений</a:t>
            </a:r>
          </a:p>
          <a:p xmlns:a="http://schemas.openxmlformats.org/drawingml/2006/main">
            <a:pPr>
              <a:defRPr sz="2025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и меньше зависимости от сервиса</a:t>
            </a:r>
          </a:p>
        </p:txBody>
      </p:sp>
      <p:sp>
        <p:nvSpPr>
          <p:cNvPr id="14" name="repo">
            <a:extLst xmlns:a="http://schemas.openxmlformats.org/drawingml/2006/main">
              <a:ext uri="{FF2B5EF4-FFF2-40B4-BE49-F238E27FC236}">
                <a16:creationId xmlns:a16="http://schemas.microsoft.com/office/drawing/2014/main" id="{1239B2C8-631A-4B01-BAB9-F1E7D760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Публичный репозиторий: github.com/impossi8le/messengers2amo</a:t>
            </a:r>
          </a:p>
        </p:txBody>
      </p:sp>
    </p:spTree>
    <p:extLst>
      <p:ext uri="{BB962C8B-B14F-4D97-AF65-F5344CB8AC3E}">
        <p14:creationId xmlns:p14="http://schemas.microsoft.com/office/powerpoint/2010/main" val="1785879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BF8F9B3-EED7-4AB3-A165-7584009F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Технологии и их роль в решении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DBE4D1D-376C-46D8-BDC3-43400050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BDDBB-8BB9-4507-8658-DAB4772F42C7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381500"/>
                <a:gridCol w="4200525"/>
              </a:tblGrid>
              <a:tr h="698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Слой</a:t>
                      </a:r>
                    </a:p>
                  </a:txBody>
                  <a:tcPr marL="133350" marR="114300" marT="95250" marB="85725">
                    <a:lnL w="9525">
                      <a:solidFill>
                        <a:srgbClr val="CBD5CF"/>
                      </a:solidFill>
                      <a:prstDash val="solid"/>
                    </a:lnL>
                    <a:lnR w="9525">
                      <a:solidFill>
                        <a:srgbClr val="CBD5CF"/>
                      </a:solidFill>
                      <a:prstDash val="solid"/>
                    </a:lnR>
                    <a:lnT w="9525">
                      <a:solidFill>
                        <a:srgbClr val="CBD5CF"/>
                      </a:solidFill>
                      <a:prstDash val="solid"/>
                    </a:lnT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102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Технологии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T w="9525">
                      <a:solidFill>
                        <a:srgbClr val="CBD5CF"/>
                      </a:solidFill>
                      <a:prstDash val="solid"/>
                    </a:lnT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102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Зачем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T w="9525">
                      <a:solidFill>
                        <a:srgbClr val="CBD5CF"/>
                      </a:solidFill>
                      <a:prstDash val="solid"/>
                    </a:lnT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102D35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133350" marR="114300" marT="95250" marB="85725">
                    <a:lnL w="9525">
                      <a:solidFill>
                        <a:srgbClr val="CBD5CF"/>
                      </a:solidFill>
                      <a:prstDash val="solid"/>
                    </a:lnL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Node.js 24, TypeScript,</a:t>
                      </a:r>
                    </a:p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Fastify, Zod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API, проверка данных</a:t>
                      </a:r>
                    </a:p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и фоновые обработчики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Данные и файлы</a:t>
                      </a:r>
                    </a:p>
                  </a:txBody>
                  <a:tcPr marL="133350" marR="114300" marT="95250" marB="85725">
                    <a:lnL w="9525">
                      <a:solidFill>
                        <a:srgbClr val="CBD5CF"/>
                      </a:solidFill>
                      <a:prstDash val="solid"/>
                    </a:lnL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PostgreSQL 18, SQL,</a:t>
                      </a:r>
                    </a:p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S3-совместимое хранилище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Доменные данные,</a:t>
                      </a:r>
                    </a:p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очереди и вложения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Интерфейс</a:t>
                      </a:r>
                    </a:p>
                  </a:txBody>
                  <a:tcPr marL="133350" marR="114300" marT="95250" marB="85725">
                    <a:lnL w="9525">
                      <a:solidFill>
                        <a:srgbClr val="CBD5CF"/>
                      </a:solidFill>
                      <a:prstDash val="solid"/>
                    </a:lnL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React 18, Vite,</a:t>
                      </a:r>
                    </a:p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Redux Toolkit / RTK Query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Консоль операторов</a:t>
                      </a:r>
                    </a:p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и администраторов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Развёртывание</a:t>
                      </a:r>
                    </a:p>
                  </a:txBody>
                  <a:tcPr marL="133350" marR="114300" marT="95250" marB="85725">
                    <a:lnL w="9525">
                      <a:solidFill>
                        <a:srgbClr val="CBD5CF"/>
                      </a:solidFill>
                      <a:prstDash val="solid"/>
                    </a:lnL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Docker Compose, Nginx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Изолированный запуск,</a:t>
                      </a:r>
                    </a:p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HTTPS и обновления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Качество</a:t>
                      </a:r>
                    </a:p>
                  </a:txBody>
                  <a:tcPr marL="133350" marR="114300" marT="95250" marB="85725">
                    <a:lnL w="9525">
                      <a:solidFill>
                        <a:srgbClr val="CBD5CF"/>
                      </a:solidFill>
                      <a:prstDash val="solid"/>
                    </a:lnL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Node test runner, Vitest,</a:t>
                      </a:r>
                    </a:p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TypeScript, GitHub Actions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Регрессия, проверка</a:t>
                      </a:r>
                    </a:p>
                    <a:p>
                      <a:r>
                        <a:rPr sz="1650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типов и CI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8842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6478000-D288-4178-855F-0774A38E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Как сообщение проходит через систему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ADFF4C8-6BC2-43CD-8044-DB514B0D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channels">
            <a:extLst xmlns:a="http://schemas.openxmlformats.org/drawingml/2006/main">
              <a:ext uri="{FF2B5EF4-FFF2-40B4-BE49-F238E27FC236}">
                <a16:creationId xmlns:a16="http://schemas.microsoft.com/office/drawing/2014/main" id="{A44FC267-DEAE-4DAB-8664-DD789D0C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5241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CF"/>
            </a:solidFill>
          </a:ln>
        </p:spPr>
      </p:sp>
      <p:sp>
        <p:nvSpPr>
          <p:cNvPr id="5" name="channels-text">
            <a:extLst xmlns:a="http://schemas.openxmlformats.org/drawingml/2006/main">
              <a:ext uri="{FF2B5EF4-FFF2-40B4-BE49-F238E27FC236}">
                <a16:creationId xmlns:a16="http://schemas.microsoft.com/office/drawing/2014/main" id="{FE0DA421-5A51-45E7-B8A6-4927D8B9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21812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Telegram</a:t>
            </a:r>
          </a:p>
          <a:p xmlns:a="http://schemas.openxmlformats.org/drawingml/2006/main">
            <a: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WhatsApp Cloud</a:t>
            </a:r>
          </a:p>
          <a:p xmlns:a="http://schemas.openxmlformats.org/drawingml/2006/main">
            <a: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MAX / VK</a:t>
            </a:r>
          </a:p>
        </p:txBody>
      </p:sp>
      <p:sp>
        <p:nvSpPr>
          <p:cNvPr id="6" name="api">
            <a:extLst xmlns:a="http://schemas.openxmlformats.org/drawingml/2006/main">
              <a:ext uri="{FF2B5EF4-FFF2-40B4-BE49-F238E27FC236}">
                <a16:creationId xmlns:a16="http://schemas.microsoft.com/office/drawing/2014/main" id="{FA8CF213-8FD6-4A04-B9B7-219DD0AA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1432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35"/>
          </a:solidFill>
          <a:ln xmlns:a="http://schemas.openxmlformats.org/drawingml/2006/main" w="19050">
            <a:solidFill>
              <a:srgbClr val="102D35"/>
            </a:solidFill>
          </a:ln>
        </p:spPr>
      </p:sp>
      <p:sp>
        <p:nvSpPr>
          <p:cNvPr id="7" name="api-text">
            <a:extLst xmlns:a="http://schemas.openxmlformats.org/drawingml/2006/main">
              <a:ext uri="{FF2B5EF4-FFF2-40B4-BE49-F238E27FC236}">
                <a16:creationId xmlns:a16="http://schemas.microsoft.com/office/drawing/2014/main" id="{F1587E58-6AD5-409D-8031-77362527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24075"/>
            <a:ext cx="28003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и worker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приём, обработка,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маршрутизация</a:t>
            </a:r>
          </a:p>
        </p:txBody>
      </p:sp>
      <p:sp>
        <p:nvSpPr>
          <p:cNvPr id="8" name="crm">
            <a:extLst xmlns:a="http://schemas.openxmlformats.org/drawingml/2006/main">
              <a:ext uri="{FF2B5EF4-FFF2-40B4-BE49-F238E27FC236}">
                <a16:creationId xmlns:a16="http://schemas.microsoft.com/office/drawing/2014/main" id="{3CFC8656-9936-4A09-AE63-69FC18CF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52625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CF"/>
            </a:solidFill>
          </a:ln>
        </p:spPr>
      </p:sp>
      <p:sp>
        <p:nvSpPr>
          <p:cNvPr id="9" name="crm-text">
            <a:extLst xmlns:a="http://schemas.openxmlformats.org/drawingml/2006/main">
              <a:ext uri="{FF2B5EF4-FFF2-40B4-BE49-F238E27FC236}">
                <a16:creationId xmlns:a16="http://schemas.microsoft.com/office/drawing/2014/main" id="{873DB1CB-89A6-4AC3-8A6E-649521FE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24075"/>
            <a:ext cx="26098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amoCRM</a:t>
            </a:r>
          </a:p>
          <a:p xmlns:a="http://schemas.openxmlformats.org/drawingml/2006/main">
            <a: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чаты, контакты</a:t>
            </a:r>
          </a:p>
          <a:p xmlns:a="http://schemas.openxmlformats.org/drawingml/2006/main">
            <a: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и сделки</a:t>
            </a:r>
          </a:p>
        </p:txBody>
      </p:sp>
      <p:sp>
        <p:nvSpPr>
          <p:cNvPr id="10" name="flow">
            <a:extLst xmlns:a="http://schemas.openxmlformats.org/drawingml/2006/main">
              <a:ext uri="{FF2B5EF4-FFF2-40B4-BE49-F238E27FC236}">
                <a16:creationId xmlns:a16="http://schemas.microsoft.com/office/drawing/2014/main" id="{1CA77681-9621-47D6-BAA8-13D31171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4320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11" name="arrow">
            <a:extLst xmlns:a="http://schemas.openxmlformats.org/drawingml/2006/main">
              <a:ext uri="{FF2B5EF4-FFF2-40B4-BE49-F238E27FC236}">
                <a16:creationId xmlns:a16="http://schemas.microsoft.com/office/drawing/2014/main" id="{FC842D49-08D5-4955-BB6B-274EBC1A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10050" y="2676525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12" name="flow">
            <a:extLst xmlns:a="http://schemas.openxmlformats.org/drawingml/2006/main">
              <a:ext uri="{FF2B5EF4-FFF2-40B4-BE49-F238E27FC236}">
                <a16:creationId xmlns:a16="http://schemas.microsoft.com/office/drawing/2014/main" id="{AC146E2C-2B75-43AB-9B22-8025B936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43200"/>
            <a:ext cx="1095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13" name="arrow">
            <a:extLst xmlns:a="http://schemas.openxmlformats.org/drawingml/2006/main">
              <a:ext uri="{FF2B5EF4-FFF2-40B4-BE49-F238E27FC236}">
                <a16:creationId xmlns:a16="http://schemas.microsoft.com/office/drawing/2014/main" id="{42144B9D-3E86-404F-9369-82D45168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48675" y="2676525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14" name="ui">
            <a:extLst xmlns:a="http://schemas.openxmlformats.org/drawingml/2006/main">
              <a:ext uri="{FF2B5EF4-FFF2-40B4-BE49-F238E27FC236}">
                <a16:creationId xmlns:a16="http://schemas.microsoft.com/office/drawing/2014/main" id="{60D9F3C9-62BC-4B8B-A111-75534560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CF"/>
            </a:solidFill>
          </a:ln>
        </p:spPr>
      </p:sp>
      <p:sp>
        <p:nvSpPr>
          <p:cNvPr id="15" name="ui-text">
            <a:extLst xmlns:a="http://schemas.openxmlformats.org/drawingml/2006/main">
              <a:ext uri="{FF2B5EF4-FFF2-40B4-BE49-F238E27FC236}">
                <a16:creationId xmlns:a16="http://schemas.microsoft.com/office/drawing/2014/main" id="{32D4EA54-0EC5-4288-8386-F09D196D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2514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React-консоль</a:t>
            </a:r>
          </a:p>
          <a:p xmlns:a="http://schemas.openxmlformats.org/drawingml/2006/main">
            <a: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управление</a:t>
            </a:r>
          </a:p>
        </p:txBody>
      </p:sp>
      <p:sp>
        <p:nvSpPr>
          <p:cNvPr id="16" name="db">
            <a:extLst xmlns:a="http://schemas.openxmlformats.org/drawingml/2006/main">
              <a:ext uri="{FF2B5EF4-FFF2-40B4-BE49-F238E27FC236}">
                <a16:creationId xmlns:a16="http://schemas.microsoft.com/office/drawing/2014/main" id="{68FCB961-50A7-4C51-B505-DFF3FBDE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CF"/>
            </a:solidFill>
          </a:ln>
        </p:spPr>
      </p:sp>
      <p:sp>
        <p:nvSpPr>
          <p:cNvPr id="17" name="db-text">
            <a:extLst xmlns:a="http://schemas.openxmlformats.org/drawingml/2006/main">
              <a:ext uri="{FF2B5EF4-FFF2-40B4-BE49-F238E27FC236}">
                <a16:creationId xmlns:a16="http://schemas.microsoft.com/office/drawing/2014/main" id="{21959BB1-C626-4F5F-BE72-470AD5B5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inbox, outbox, домен</a:t>
            </a:r>
          </a:p>
        </p:txBody>
      </p:sp>
      <p:sp>
        <p:nvSpPr>
          <p:cNvPr id="18" name="files">
            <a:extLst xmlns:a="http://schemas.openxmlformats.org/drawingml/2006/main">
              <a:ext uri="{FF2B5EF4-FFF2-40B4-BE49-F238E27FC236}">
                <a16:creationId xmlns:a16="http://schemas.microsoft.com/office/drawing/2014/main" id="{1CE7890B-EE5B-4DD9-A75D-EAE53191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267200"/>
            <a:ext cx="2952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5CF"/>
            </a:solidFill>
          </a:ln>
        </p:spPr>
      </p:sp>
      <p:sp>
        <p:nvSpPr>
          <p:cNvPr id="19" name="files-text">
            <a:extLst xmlns:a="http://schemas.openxmlformats.org/drawingml/2006/main">
              <a:ext uri="{FF2B5EF4-FFF2-40B4-BE49-F238E27FC236}">
                <a16:creationId xmlns:a16="http://schemas.microsoft.com/office/drawing/2014/main" id="{0E1E8E51-FC29-4CBF-84E3-68B632AE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38650"/>
            <a:ext cx="2609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Вложения</a:t>
            </a:r>
          </a:p>
          <a:p xmlns:a="http://schemas.openxmlformats.org/drawingml/2006/main">
            <a:pPr>
              <a:defRPr sz="20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Files API / S3</a:t>
            </a:r>
          </a:p>
        </p:txBody>
      </p:sp>
      <p:sp>
        <p:nvSpPr>
          <p:cNvPr id="20" name="db-line">
            <a:extLst xmlns:a="http://schemas.openxmlformats.org/drawingml/2006/main">
              <a:ext uri="{FF2B5EF4-FFF2-40B4-BE49-F238E27FC236}">
                <a16:creationId xmlns:a16="http://schemas.microsoft.com/office/drawing/2014/main" id="{E27ACD31-1804-49EB-AA10-1969326B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09975"/>
            <a:ext cx="285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21" name="ui-h1">
            <a:extLst xmlns:a="http://schemas.openxmlformats.org/drawingml/2006/main">
              <a:ext uri="{FF2B5EF4-FFF2-40B4-BE49-F238E27FC236}">
                <a16:creationId xmlns:a16="http://schemas.microsoft.com/office/drawing/2014/main" id="{BCAA11A2-38C1-480B-B45A-098C84CA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101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22" name="ui-v">
            <a:extLst xmlns:a="http://schemas.openxmlformats.org/drawingml/2006/main">
              <a:ext uri="{FF2B5EF4-FFF2-40B4-BE49-F238E27FC236}">
                <a16:creationId xmlns:a16="http://schemas.microsoft.com/office/drawing/2014/main" id="{C9038BF3-1F29-4EE6-8220-0E5BFD7E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86125"/>
            <a:ext cx="28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23" name="flow">
            <a:extLst xmlns:a="http://schemas.openxmlformats.org/drawingml/2006/main">
              <a:ext uri="{FF2B5EF4-FFF2-40B4-BE49-F238E27FC236}">
                <a16:creationId xmlns:a16="http://schemas.microsoft.com/office/drawing/2014/main" id="{70D7876A-F968-4064-9552-2C8C2F79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861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24" name="arrow">
            <a:extLst xmlns:a="http://schemas.openxmlformats.org/drawingml/2006/main">
              <a:ext uri="{FF2B5EF4-FFF2-40B4-BE49-F238E27FC236}">
                <a16:creationId xmlns:a16="http://schemas.microsoft.com/office/drawing/2014/main" id="{5D8D9AFD-F7B4-4034-A517-23CC99C3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10050" y="321945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25" name="media-h1">
            <a:extLst xmlns:a="http://schemas.openxmlformats.org/drawingml/2006/main">
              <a:ext uri="{FF2B5EF4-FFF2-40B4-BE49-F238E27FC236}">
                <a16:creationId xmlns:a16="http://schemas.microsoft.com/office/drawing/2014/main" id="{9D9C5029-0531-4499-A799-7D94542C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861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26" name="media-v">
            <a:extLst xmlns:a="http://schemas.openxmlformats.org/drawingml/2006/main">
              <a:ext uri="{FF2B5EF4-FFF2-40B4-BE49-F238E27FC236}">
                <a16:creationId xmlns:a16="http://schemas.microsoft.com/office/drawing/2014/main" id="{5ACA4457-F7A9-4AD5-8F17-3989D6A9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286125"/>
            <a:ext cx="2857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27" name="flow">
            <a:extLst xmlns:a="http://schemas.openxmlformats.org/drawingml/2006/main">
              <a:ext uri="{FF2B5EF4-FFF2-40B4-BE49-F238E27FC236}">
                <a16:creationId xmlns:a16="http://schemas.microsoft.com/office/drawing/2014/main" id="{D8446F27-000A-4B68-ACD4-D903232C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810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28" name="arrow">
            <a:extLst xmlns:a="http://schemas.openxmlformats.org/drawingml/2006/main">
              <a:ext uri="{FF2B5EF4-FFF2-40B4-BE49-F238E27FC236}">
                <a16:creationId xmlns:a16="http://schemas.microsoft.com/office/drawing/2014/main" id="{8C5ED05E-08B3-4CB4-8F5E-9EE89D89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48675" y="474345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29" name="core">
            <a:extLst xmlns:a="http://schemas.openxmlformats.org/drawingml/2006/main">
              <a:ext uri="{FF2B5EF4-FFF2-40B4-BE49-F238E27FC236}">
                <a16:creationId xmlns:a16="http://schemas.microsoft.com/office/drawing/2014/main" id="{51006B4A-AA16-4F20-BFA1-2471FC06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Входящие сохраняются до ACK. Исходящие выполняет worker с контролем результата</a:t>
            </a:r>
          </a:p>
        </p:txBody>
      </p:sp>
    </p:spTree>
    <p:extLst>
      <p:ext uri="{BB962C8B-B14F-4D97-AF65-F5344CB8AC3E}">
        <p14:creationId xmlns:p14="http://schemas.microsoft.com/office/powerpoint/2010/main" val="21002687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0E4030-DE12-40A0-8D4D-D3892D0A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Для Chats API нужно обратиться в поддержку amoCRM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0F16C33-2399-41F3-85A3-239B8172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parate">
            <a:extLst xmlns:a="http://schemas.openxmlformats.org/drawingml/2006/main">
              <a:ext uri="{FF2B5EF4-FFF2-40B4-BE49-F238E27FC236}">
                <a16:creationId xmlns:a16="http://schemas.microsoft.com/office/drawing/2014/main" id="{5B70727F-9847-4142-A925-0D21EC99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OAuth для REST и регистрация канала чатов</a:t>
            </a:r>
          </a:p>
          <a:p xmlns:a="http://schemas.openxmlformats.org/drawingml/2006/main">
            <a: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проходят отдельно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1CB230EB-7FF5-45B2-855B-551AA3EE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6" name="support-title-0">
            <a:extLst xmlns:a="http://schemas.openxmlformats.org/drawingml/2006/main">
              <a:ext uri="{FF2B5EF4-FFF2-40B4-BE49-F238E27FC236}">
                <a16:creationId xmlns:a16="http://schemas.microsoft.com/office/drawing/2014/main" id="{42EF0CFB-27A2-4E93-92D0-7540CAAD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1. Подать заявку</a:t>
            </a:r>
          </a:p>
        </p:txBody>
      </p:sp>
      <p:sp>
        <p:nvSpPr>
          <p:cNvPr id="7" name="support-body-0">
            <a:extLst xmlns:a="http://schemas.openxmlformats.org/drawingml/2006/main">
              <a:ext uri="{FF2B5EF4-FFF2-40B4-BE49-F238E27FC236}">
                <a16:creationId xmlns:a16="http://schemas.microsoft.com/office/drawing/2014/main" id="{E441F39E-C404-4DC4-8B3E-2E33BDE4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3337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Название, HTTPS-webhook,</a:t>
            </a:r>
          </a:p>
          <a:p xmlns:a="http://schemas.openxmlformats.org/drawingml/2006/main">
            <a: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аккаунты, SVG-иконка</a:t>
            </a:r>
          </a:p>
          <a:p xmlns:a="http://schemas.openxmlformats.org/drawingml/2006/main">
            <a: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и требуемые функции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D45DF69E-1E05-4D59-954A-AA0C5483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718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9" name="support-title-1">
            <a:extLst xmlns:a="http://schemas.openxmlformats.org/drawingml/2006/main">
              <a:ext uri="{FF2B5EF4-FFF2-40B4-BE49-F238E27FC236}">
                <a16:creationId xmlns:a16="http://schemas.microsoft.com/office/drawing/2014/main" id="{1E256C48-031C-434F-97AB-ED4840D8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5757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2. Получить доступ</a:t>
            </a:r>
          </a:p>
        </p:txBody>
      </p:sp>
      <p:sp>
        <p:nvSpPr>
          <p:cNvPr id="10" name="support-body-1">
            <a:extLst xmlns:a="http://schemas.openxmlformats.org/drawingml/2006/main">
              <a:ext uri="{FF2B5EF4-FFF2-40B4-BE49-F238E27FC236}">
                <a16:creationId xmlns:a16="http://schemas.microsoft.com/office/drawing/2014/main" id="{52ECE148-6323-40B4-A8CC-7861FD88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29100"/>
            <a:ext cx="33337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ID и секрет канала,</a:t>
            </a:r>
          </a:p>
          <a:p xmlns:a="http://schemas.openxmlformats.org/drawingml/2006/main">
            <a: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разрешённые аккаунты</a:t>
            </a:r>
          </a:p>
          <a:p xmlns:a="http://schemas.openxmlformats.org/drawingml/2006/main">
            <a: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и параметры подключения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BDD913FC-80E3-4C5A-A3AD-4A4A83AD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718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A58"/>
          </a:solidFill>
          <a:ln xmlns:a="http://schemas.openxmlformats.org/drawingml/2006/main" w="0">
            <a:noFill/>
          </a:ln>
        </p:spPr>
      </p:sp>
      <p:sp>
        <p:nvSpPr>
          <p:cNvPr id="12" name="support-title-2">
            <a:extLst xmlns:a="http://schemas.openxmlformats.org/drawingml/2006/main">
              <a:ext uri="{FF2B5EF4-FFF2-40B4-BE49-F238E27FC236}">
                <a16:creationId xmlns:a16="http://schemas.microsoft.com/office/drawing/2014/main" id="{E32790DE-4A66-40A9-89D8-DFA13E36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5757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3. Уточнить поведение</a:t>
            </a:r>
          </a:p>
        </p:txBody>
      </p:sp>
      <p:sp>
        <p:nvSpPr>
          <p:cNvPr id="13" name="support-body-2">
            <a:extLst xmlns:a="http://schemas.openxmlformats.org/drawingml/2006/main">
              <a:ext uri="{FF2B5EF4-FFF2-40B4-BE49-F238E27FC236}">
                <a16:creationId xmlns:a16="http://schemas.microsoft.com/office/drawing/2014/main" id="{8ABD2D97-327A-46C9-94DF-89FEC0C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33337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Файлы, цитаты, реакции,</a:t>
            </a:r>
          </a:p>
          <a:p xmlns:a="http://schemas.openxmlformats.org/drawingml/2006/main">
            <a: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право написать первым</a:t>
            </a:r>
          </a:p>
          <a:p xmlns:a="http://schemas.openxmlformats.org/drawingml/2006/main">
            <a:pPr>
              <a:defRPr sz="1950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и отдельные каналы</a:t>
            </a:r>
          </a:p>
        </p:txBody>
      </p:sp>
      <p:sp>
        <p:nvSpPr>
          <p:cNvPr id="14" name="actual">
            <a:extLst xmlns:a="http://schemas.openxmlformats.org/drawingml/2006/main">
              <a:ext uri="{FF2B5EF4-FFF2-40B4-BE49-F238E27FC236}">
                <a16:creationId xmlns:a16="http://schemas.microsoft.com/office/drawing/2014/main" id="{AA06CFDB-1206-4EB5-97C5-6ACFCF31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В проекте канал зарегистрирован. По загрузке вложений продолжается диагностика с поддержкой</a:t>
            </a:r>
          </a:p>
        </p:txBody>
      </p:sp>
    </p:spTree>
    <p:extLst>
      <p:ext uri="{BB962C8B-B14F-4D97-AF65-F5344CB8AC3E}">
        <p14:creationId xmlns:p14="http://schemas.microsoft.com/office/powerpoint/2010/main" val="913498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DA924AA-7870-4FBA-8AA8-496ECB44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Какие проблемы пришлось разобрать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D110765-90CA-40ED-9581-6949F0C6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3BD92-3993-4D06-95D7-0E86D2F02453}"/>
              </a:ext>
            </a:extLst>
          </p:cNvPr>
          <p:cNvGraphicFramePr/>
          <p:nvPr/>
        </p:nvGraphicFramePr>
        <p:xfrm>
          <a:off xmlns:a="http://schemas.openxmlformats.org/drawingml/2006/main" x="685800" y="1962150"/>
          <a:ext xmlns:a="http://schemas.openxmlformats.org/drawingml/2006/main" cx="108204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191000"/>
                <a:gridCol w="3867150"/>
              </a:tblGrid>
              <a:tr h="8620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Проблема</a:t>
                      </a:r>
                    </a:p>
                  </a:txBody>
                  <a:tcPr marL="133350" marR="114300" marT="95250" marB="85725">
                    <a:lnL w="9525">
                      <a:solidFill>
                        <a:srgbClr val="CBD5CF"/>
                      </a:solidFill>
                      <a:prstDash val="solid"/>
                    </a:lnL>
                    <a:lnR w="9525">
                      <a:solidFill>
                        <a:srgbClr val="CBD5CF"/>
                      </a:solidFill>
                      <a:prstDash val="solid"/>
                    </a:lnR>
                    <a:lnT w="9525">
                      <a:solidFill>
                        <a:srgbClr val="CBD5CF"/>
                      </a:solidFill>
                      <a:prstDash val="solid"/>
                    </a:lnT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102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изменилось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T w="9525">
                      <a:solidFill>
                        <a:srgbClr val="CBD5CF"/>
                      </a:solidFill>
                      <a:prstDash val="solid"/>
                    </a:lnT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102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 проверили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T w="9525">
                      <a:solidFill>
                        <a:srgbClr val="CBD5CF"/>
                      </a:solidFill>
                      <a:prstDash val="solid"/>
                    </a:lnT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102D35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В CRM терялся</a:t>
                      </a:r>
                    </a:p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профиль отправителя</a:t>
                      </a:r>
                    </a:p>
                  </a:txBody>
                  <a:tcPr marL="133350" marR="114300" marT="95250" marB="85725">
                    <a:lnL w="9525">
                      <a:solidFill>
                        <a:srgbClr val="CBD5CF"/>
                      </a:solidFill>
                      <a:prstDash val="solid"/>
                    </a:lnL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Передача имени и аватара</a:t>
                      </a:r>
                    </a:p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через защищённый маршрут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Оба тестовых профиля</a:t>
                      </a:r>
                    </a:p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проверены визуально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Подпись реального</a:t>
                      </a:r>
                    </a:p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webhook не совпадала</a:t>
                      </a:r>
                    </a:p>
                  </a:txBody>
                  <a:tcPr marL="133350" marR="114300" marT="95250" marB="85725">
                    <a:lnL w="9525">
                      <a:solidFill>
                        <a:srgbClr val="CBD5CF"/>
                      </a:solidFill>
                      <a:prstDash val="solid"/>
                    </a:lnL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исходных байтов</a:t>
                      </a:r>
                    </a:p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и допустимых внешних пробелов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Запрос принят, изменение</a:t>
                      </a:r>
                    </a:p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содержимого отклоняется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Файл зависал в UI</a:t>
                      </a:r>
                    </a:p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до отправки webhook</a:t>
                      </a:r>
                    </a:p>
                  </a:txBody>
                  <a:tcPr marL="133350" marR="114300" marT="95250" marB="85725">
                    <a:lnL w="9525">
                      <a:solidFill>
                        <a:srgbClr val="CBD5CF"/>
                      </a:solidFill>
                      <a:prstDash val="solid"/>
                    </a:lnL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Отделены серверная передача</a:t>
                      </a:r>
                    </a:p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и проблема редактора CRM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Backend проверен отдельно,</a:t>
                      </a:r>
                    </a:p>
                    <a:p>
                      <a:r>
                        <a:rPr sz="1875">
                          <a:solidFill>
                            <a:srgbClr val="102D35"/>
                          </a:solidFill>
                          <a:latin typeface="Arial"/>
                          <a:ea typeface="Arial"/>
                          <a:cs typeface="Arial"/>
                        </a:rPr>
                        <a:t>диагностика передана в ТП</a:t>
                      </a:r>
                    </a:p>
                  </a:txBody>
                  <a:tcPr marL="133350" marR="114300" marT="95250" marB="85725">
                    <a:lnR w="9525">
                      <a:solidFill>
                        <a:srgbClr val="CBD5CF"/>
                      </a:solidFill>
                      <a:prstDash val="solid"/>
                    </a:lnR>
                    <a:lnB w="9525">
                      <a:solidFill>
                        <a:srgbClr val="CBD5CF"/>
                      </a:solidFill>
                      <a:prstDash val="solid"/>
                    </a:lnB>
                    <a:solidFill>
                      <a:srgbClr val="F5F4EF"/>
                    </a:solidFill>
                  </a:tcPr>
                </a:tc>
              </a:tr>
            </a:tbl>
          </a:graphicData>
        </a:graphic>
      </p:graphicFrame>
      <p:sp>
        <p:nvSpPr>
          <p:cNvPr id="5" name="approach">
            <a:extLst xmlns:a="http://schemas.openxmlformats.org/drawingml/2006/main">
              <a:ext uri="{FF2B5EF4-FFF2-40B4-BE49-F238E27FC236}">
                <a16:creationId xmlns:a16="http://schemas.microsoft.com/office/drawing/2014/main" id="{55C35AA6-E933-486B-8BF5-8BEEDCB4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Сначала воспроизведение, затем локализация, исправление и повторная проверка</a:t>
            </a:r>
          </a:p>
        </p:txBody>
      </p:sp>
    </p:spTree>
    <p:extLst>
      <p:ext uri="{BB962C8B-B14F-4D97-AF65-F5344CB8AC3E}">
        <p14:creationId xmlns:p14="http://schemas.microsoft.com/office/powerpoint/2010/main" val="3291309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68517B-EA50-4F1C-A9C7-9F05B8AD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Надёжность заложена в обработку сообщений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DDB8A84-BA36-4D6B-919F-3857E1FD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770D066-EC8A-47CD-A04A-8F741174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5" name="label-1">
            <a:extLst xmlns:a="http://schemas.openxmlformats.org/drawingml/2006/main">
              <a:ext uri="{FF2B5EF4-FFF2-40B4-BE49-F238E27FC236}">
                <a16:creationId xmlns:a16="http://schemas.microsoft.com/office/drawing/2014/main" id="{0418DD35-F280-4E73-96C3-8894D287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Повторные события</a:t>
            </a:r>
          </a:p>
        </p:txBody>
      </p:sp>
      <p:sp>
        <p:nvSpPr>
          <p:cNvPr id="6" name="value-1">
            <a:extLst xmlns:a="http://schemas.openxmlformats.org/drawingml/2006/main">
              <a:ext uri="{FF2B5EF4-FFF2-40B4-BE49-F238E27FC236}">
                <a16:creationId xmlns:a16="http://schemas.microsoft.com/office/drawing/2014/main" id="{2052FA14-D12C-405D-B71F-74D10750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76450"/>
            <a:ext cx="7667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Уникальный ключ и fingerprint</a:t>
            </a:r>
          </a:p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защищают от повторной обработки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F567D1E4-D14F-475B-B43B-744DCF4F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72533D5F-1332-49A8-9778-07079E70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Неясный результат</a:t>
            </a:r>
          </a:p>
        </p:txBody>
      </p:sp>
      <p:sp>
        <p:nvSpPr>
          <p:cNvPr id="9" name="value-2">
            <a:extLst xmlns:a="http://schemas.openxmlformats.org/drawingml/2006/main">
              <a:ext uri="{FF2B5EF4-FFF2-40B4-BE49-F238E27FC236}">
                <a16:creationId xmlns:a16="http://schemas.microsoft.com/office/drawing/2014/main" id="{6DC34B99-6944-4C69-9C7E-5BF4E3F3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62325"/>
            <a:ext cx="7667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Timeout получает статус unknown</a:t>
            </a:r>
          </a:p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и не запускает слепую повторную отправку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0B04F5E-CA59-4ECF-8F33-4241EA25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11" name="label-3">
            <a:extLst xmlns:a="http://schemas.openxmlformats.org/drawingml/2006/main">
              <a:ext uri="{FF2B5EF4-FFF2-40B4-BE49-F238E27FC236}">
                <a16:creationId xmlns:a16="http://schemas.microsoft.com/office/drawing/2014/main" id="{A38158AC-EBE5-493B-917A-80A4BC7F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Одновременные действия</a:t>
            </a:r>
          </a:p>
        </p:txBody>
      </p:sp>
      <p:sp>
        <p:nvSpPr>
          <p:cNvPr id="12" name="value-3">
            <a:extLst xmlns:a="http://schemas.openxmlformats.org/drawingml/2006/main">
              <a:ext uri="{FF2B5EF4-FFF2-40B4-BE49-F238E27FC236}">
                <a16:creationId xmlns:a16="http://schemas.microsoft.com/office/drawing/2014/main" id="{09AB8ED9-545B-47E5-92B3-492F2142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48200"/>
            <a:ext cx="7667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CAS, lease и fence защищают</a:t>
            </a:r>
          </a:p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назначения и фоновые задания</a:t>
            </a:r>
          </a:p>
        </p:txBody>
      </p:sp>
    </p:spTree>
    <p:extLst>
      <p:ext uri="{BB962C8B-B14F-4D97-AF65-F5344CB8AC3E}">
        <p14:creationId xmlns:p14="http://schemas.microsoft.com/office/powerpoint/2010/main" val="20201438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5B0E48-8D4D-44FC-A58E-65DEF750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Результат проверен в реальных тестовых диалогах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8981535-A195-4DDB-B9F5-2588F4DE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big">
            <a:extLst xmlns:a="http://schemas.openxmlformats.org/drawingml/2006/main">
              <a:ext uri="{FF2B5EF4-FFF2-40B4-BE49-F238E27FC236}">
                <a16:creationId xmlns:a16="http://schemas.microsoft.com/office/drawing/2014/main" id="{7F7FF56A-8BD5-46CA-879A-23DF4371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95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1095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1095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1095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1095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1095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1095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1095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1095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1095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95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1095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big-label">
            <a:extLst xmlns:a="http://schemas.openxmlformats.org/drawingml/2006/main">
              <a:ext uri="{FF2B5EF4-FFF2-40B4-BE49-F238E27FC236}">
                <a16:creationId xmlns:a16="http://schemas.microsoft.com/office/drawing/2014/main" id="{E40C716D-B747-4D0B-8339-A041F89F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45720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отдельных диалога</a:t>
            </a:r>
          </a:p>
          <a:p xmlns:a="http://schemas.openxmlformats.org/drawingml/2006/main">
            <a:pPr>
              <a:defRPr sz="26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Telegram и amoCRM</a:t>
            </a:r>
          </a:p>
        </p:txBody>
      </p:sp>
      <p:sp>
        <p:nvSpPr>
          <p:cNvPr id="6" name="live">
            <a:extLst xmlns:a="http://schemas.openxmlformats.org/drawingml/2006/main">
              <a:ext uri="{FF2B5EF4-FFF2-40B4-BE49-F238E27FC236}">
                <a16:creationId xmlns:a16="http://schemas.microsoft.com/office/drawing/2014/main" id="{922718BB-D058-4B40-B859-182DAFB2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990725"/>
            <a:ext cx="566737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Текст проходит в обе стороны</a:t>
            </a:r>
          </a:p>
          <a:p xmlns:a="http://schemas.openxmlformats.org/drawingml/2006/main">
            <a:pPr>
              <a:defRPr sz="21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Имена и аватары отображаются</a:t>
            </a:r>
          </a:p>
          <a:p xmlns:a="http://schemas.openxmlformats.org/drawingml/2006/main">
            <a:pPr>
              <a:defRPr sz="21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Входящие фото и TXT проверены</a:t>
            </a:r>
          </a:p>
          <a:p xmlns:a="http://schemas.openxmlformats.org/drawingml/2006/main">
            <a:pPr>
              <a:defRPr sz="217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Серверная отправка файлов проверена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808515E3-B787-449F-9E47-0CE3E944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448175"/>
            <a:ext cx="566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8" name="scope">
            <a:extLst xmlns:a="http://schemas.openxmlformats.org/drawingml/2006/main">
              <a:ext uri="{FF2B5EF4-FFF2-40B4-BE49-F238E27FC236}">
                <a16:creationId xmlns:a16="http://schemas.microsoft.com/office/drawing/2014/main" id="{E22221A4-2C0C-439A-8DE8-9EF0F323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772025"/>
            <a:ext cx="56673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9E532D"/>
                </a:solidFill>
              </a:defRPr>
            </a:defPPr>
            <a:lvl1pPr>
              <a:defRPr sz="2100" b="1">
                <a:solidFill>
                  <a:srgbClr val="9E532D"/>
                </a:solidFill>
              </a:defRPr>
            </a:lvl1pPr>
            <a:lvl2pPr>
              <a:defRPr sz="2100" b="1">
                <a:solidFill>
                  <a:srgbClr val="9E532D"/>
                </a:solidFill>
              </a:defRPr>
            </a:lvl2pPr>
            <a:lvl3pPr>
              <a:defRPr sz="2100" b="1">
                <a:solidFill>
                  <a:srgbClr val="9E532D"/>
                </a:solidFill>
              </a:defRPr>
            </a:lvl3pPr>
            <a:lvl4pPr>
              <a:defRPr sz="2100" b="1">
                <a:solidFill>
                  <a:srgbClr val="9E532D"/>
                </a:solidFill>
              </a:defRPr>
            </a:lvl4pPr>
            <a:lvl5pPr>
              <a:defRPr sz="2100" b="1">
                <a:solidFill>
                  <a:srgbClr val="9E532D"/>
                </a:solidFill>
              </a:defRPr>
            </a:lvl5pPr>
            <a:lvl6pPr>
              <a:defRPr sz="2100" b="1">
                <a:solidFill>
                  <a:srgbClr val="9E532D"/>
                </a:solidFill>
              </a:defRPr>
            </a:lvl6pPr>
            <a:lvl7pPr>
              <a:defRPr sz="2100" b="1">
                <a:solidFill>
                  <a:srgbClr val="9E532D"/>
                </a:solidFill>
              </a:defRPr>
            </a:lvl7pPr>
            <a:lvl8pPr>
              <a:defRPr sz="2100" b="1">
                <a:solidFill>
                  <a:srgbClr val="9E532D"/>
                </a:solidFill>
              </a:defRPr>
            </a:lvl8pPr>
            <a:lvl9pPr>
              <a:defRPr sz="2100" b="1">
                <a:solidFill>
                  <a:srgbClr val="9E532D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E532D"/>
                </a:solidFill>
              </a:defRPr>
            </a:pPr>
            <a:r>
              <a:rPr sz="2100" b="1">
                <a:solidFill>
                  <a:srgbClr val="9E532D"/>
                </a:solidFill>
              </a:rPr>
              <a:t/>
            </a:r>
          </a:p>
        </p:txBody>
      </p:sp>
      <p:sp>
        <p:nvSpPr>
          <p:cNvPr id="9" name="tests">
            <a:extLst xmlns:a="http://schemas.openxmlformats.org/drawingml/2006/main">
              <a:ext uri="{FF2B5EF4-FFF2-40B4-BE49-F238E27FC236}">
                <a16:creationId xmlns:a16="http://schemas.microsoft.com/office/drawing/2014/main" id="{26CA743B-B1D9-49C9-8981-A2949D76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Автотесты: 919 в публичном снимке; 616 в отдельном кандидате вложений. Наборы не суммируются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4A945-379D-4547-B5C9-2B42EE58C7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3defa69dd4327"/>
          <a:srcRect xmlns:a="http://schemas.openxmlformats.org/drawingml/2006/main" l="26000" t="79500" r="18000" b="9000"/>
          <a:stretch xmlns:a="http://schemas.openxmlformats.org/drawingml/2006/main"/>
        </p:blipFill>
        <p:spPr>
          <a:xfrm xmlns:a="http://schemas.openxmlformats.org/drawingml/2006/main">
            <a:off x="685800" y="4381500"/>
            <a:ext cx="10820400" cy="1247775"/>
          </a:xfrm>
          <a:prstGeom xmlns:a="http://schemas.openxmlformats.org/drawingml/2006/main" prst="rect">
            <a:avLst/>
          </a:prstGeom>
        </p:spPr>
      </p:pic>
      <p:sp>
        <p:nvSpPr>
          <p:cNvPr id="11" name="evidence-caption">
            <a:extLst xmlns:a="http://schemas.openxmlformats.org/drawingml/2006/main">
              <a:ext uri="{FF2B5EF4-FFF2-40B4-BE49-F238E27FC236}">
                <a16:creationId xmlns:a16="http://schemas.microsoft.com/office/drawing/2014/main" id="{17D18022-C895-4178-8A72-77315A95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36A6D"/>
                </a:solidFill>
                <a:latin typeface="Arial"/>
                <a:ea typeface="Arial"/>
                <a:cs typeface="Arial"/>
              </a:rPr>
              <a:t>Реальный фрагмент Telegram: ответ из amoCRM в ограниченном тестовом пилоте</a:t>
            </a:r>
          </a:p>
        </p:txBody>
      </p:sp>
    </p:spTree>
    <p:extLst>
      <p:ext uri="{BB962C8B-B14F-4D97-AF65-F5344CB8AC3E}">
        <p14:creationId xmlns:p14="http://schemas.microsoft.com/office/powerpoint/2010/main" val="15425480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DF9CF9F-7551-4B44-A6DB-364A7EFE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D35"/>
                </a:solidFill>
                <a:latin typeface="Arial"/>
                <a:ea typeface="Arial"/>
                <a:cs typeface="Arial"/>
              </a:rPr>
              <a:t>Что ещё нужно довести до готовности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0E6347F-B6DB-4ED5-A8D8-4F38E7B8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DCE003A-2C1E-47CF-A254-88861D53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5" name="label-1">
            <a:extLst xmlns:a="http://schemas.openxmlformats.org/drawingml/2006/main">
              <a:ext uri="{FF2B5EF4-FFF2-40B4-BE49-F238E27FC236}">
                <a16:creationId xmlns:a16="http://schemas.microsoft.com/office/drawing/2014/main" id="{33378899-ADC9-48CD-81E6-2FF7CAC3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9E532D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9E532D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9E532D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9E532D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9E532D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9E532D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9E532D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9E532D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9E532D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9E53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E53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E532D"/>
                </a:solidFill>
                <a:latin typeface="Arial"/>
                <a:ea typeface="Arial"/>
                <a:cs typeface="Arial"/>
              </a:rPr>
              <a:t>Поддержка amoCRM</a:t>
            </a:r>
          </a:p>
        </p:txBody>
      </p:sp>
      <p:sp>
        <p:nvSpPr>
          <p:cNvPr id="6" name="value-1">
            <a:extLst xmlns:a="http://schemas.openxmlformats.org/drawingml/2006/main">
              <a:ext uri="{FF2B5EF4-FFF2-40B4-BE49-F238E27FC236}">
                <a16:creationId xmlns:a16="http://schemas.microsoft.com/office/drawing/2014/main" id="{A44A2490-5604-412F-B0C6-06032BA3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33575"/>
            <a:ext cx="7667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Получить ответ по зависанию загрузки</a:t>
            </a:r>
          </a:p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и повторить путь через кнопку «Отправить»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18373670-166F-4F38-89EF-5B759D9B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E2202748-6793-4061-B1C4-9A23AC1A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Каналы и пилот</a:t>
            </a:r>
          </a:p>
        </p:txBody>
      </p:sp>
      <p:sp>
        <p:nvSpPr>
          <p:cNvPr id="9" name="value-2">
            <a:extLst xmlns:a="http://schemas.openxmlformats.org/drawingml/2006/main">
              <a:ext uri="{FF2B5EF4-FFF2-40B4-BE49-F238E27FC236}">
                <a16:creationId xmlns:a16="http://schemas.microsoft.com/office/drawing/2014/main" id="{7AB82C6A-01DC-48D6-AE83-D9A836C4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90850"/>
            <a:ext cx="7667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Проверить остальные адаптеры</a:t>
            </a:r>
          </a:p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и полный цикл обработки обязательств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59D94AC-54F4-4782-8F2C-350DC00C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11" name="label-3">
            <a:extLst xmlns:a="http://schemas.openxmlformats.org/drawingml/2006/main">
              <a:ext uri="{FF2B5EF4-FFF2-40B4-BE49-F238E27FC236}">
                <a16:creationId xmlns:a16="http://schemas.microsoft.com/office/drawing/2014/main" id="{AA0736EF-F3AF-4943-8035-353F3F68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Открытая публикация</a:t>
            </a:r>
          </a:p>
        </p:txBody>
      </p:sp>
      <p:sp>
        <p:nvSpPr>
          <p:cNvPr id="12" name="value-3">
            <a:extLst xmlns:a="http://schemas.openxmlformats.org/drawingml/2006/main">
              <a:ext uri="{FF2B5EF4-FFF2-40B4-BE49-F238E27FC236}">
                <a16:creationId xmlns:a16="http://schemas.microsoft.com/office/drawing/2014/main" id="{BD63A7E2-64F5-4DF8-B78E-26F1B906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48125"/>
            <a:ext cx="7667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Оформить open-source лицензию</a:t>
            </a:r>
          </a:p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и синхронизировать публичную версию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8C185B30-119F-439F-9D54-5340604D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CF"/>
          </a:solidFill>
          <a:ln xmlns:a="http://schemas.openxmlformats.org/drawingml/2006/main" w="0">
            <a:noFill/>
          </a:ln>
        </p:spPr>
      </p:sp>
      <p:sp>
        <p:nvSpPr>
          <p:cNvPr id="14" name="label-4">
            <a:extLst xmlns:a="http://schemas.openxmlformats.org/drawingml/2006/main">
              <a:ext uri="{FF2B5EF4-FFF2-40B4-BE49-F238E27FC236}">
                <a16:creationId xmlns:a16="http://schemas.microsoft.com/office/drawing/2014/main" id="{64C2F323-49E6-4E35-8AA2-7E59D87F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37A5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A58"/>
                </a:solidFill>
                <a:latin typeface="Arial"/>
                <a:ea typeface="Arial"/>
                <a:cs typeface="Arial"/>
              </a:rPr>
              <a:t>Качество и нагрузка</a:t>
            </a:r>
          </a:p>
        </p:txBody>
      </p:sp>
      <p:sp>
        <p:nvSpPr>
          <p:cNvPr id="15" name="value-4">
            <a:extLst xmlns:a="http://schemas.openxmlformats.org/drawingml/2006/main">
              <a:ext uri="{FF2B5EF4-FFF2-40B4-BE49-F238E27FC236}">
                <a16:creationId xmlns:a16="http://schemas.microsoft.com/office/drawing/2014/main" id="{CC73D7BB-20A9-4E93-9313-4A3986C3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05400"/>
            <a:ext cx="7667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Обновить уязвимую зависимость Zod</a:t>
            </a:r>
          </a:p>
          <a:p xmlns:a="http://schemas.openxmlformats.org/drawingml/2006/main">
            <a:pPr>
              <a:defRPr sz="2025" b="0">
                <a:solidFill>
                  <a:srgbClr val="102D3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5"/>
                </a:solidFill>
                <a:latin typeface="Arial"/>
                <a:ea typeface="Arial"/>
                <a:cs typeface="Arial"/>
              </a:rPr>
              <a:t>и зафиксировать нагрузочные показатели</a:t>
            </a:r>
          </a:p>
        </p:txBody>
      </p:sp>
    </p:spTree>
    <p:extLst>
      <p:ext uri="{BB962C8B-B14F-4D97-AF65-F5344CB8AC3E}">
        <p14:creationId xmlns:p14="http://schemas.microsoft.com/office/powerpoint/2010/main" val="3318523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2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C337C599-AFB9-461A-AD86-A51B3F61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7D1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1D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close">
            <a:extLst xmlns:a="http://schemas.openxmlformats.org/drawingml/2006/main">
              <a:ext uri="{FF2B5EF4-FFF2-40B4-BE49-F238E27FC236}">
                <a16:creationId xmlns:a16="http://schemas.microsoft.com/office/drawing/2014/main" id="{8F41D389-0D4D-42B8-AB3C-F7CFDE68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 потребности бизнеса</a:t>
            </a:r>
          </a:p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работающей интеграции</a:t>
            </a:r>
          </a:p>
        </p:txBody>
      </p:sp>
      <p:sp>
        <p:nvSpPr>
          <p:cNvPr id="4" name="summary">
            <a:extLst xmlns:a="http://schemas.openxmlformats.org/drawingml/2006/main">
              <a:ext uri="{FF2B5EF4-FFF2-40B4-BE49-F238E27FC236}">
                <a16:creationId xmlns:a16="http://schemas.microsoft.com/office/drawing/2014/main" id="{99A7BED5-5902-41C5-9538-58F50505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47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B7F2C7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B7F2C7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B7F2C7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B7F2C7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B7F2C7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B7F2C7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B7F2C7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B7F2C7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B7F2C7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B7F2C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B7F2C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7F2C7"/>
                </a:solidFill>
                <a:latin typeface="Arial"/>
                <a:ea typeface="Arial"/>
                <a:cs typeface="Arial"/>
              </a:rPr>
              <a:t>Я вёл полный цикл</a:t>
            </a:r>
          </a:p>
        </p:txBody>
      </p:sp>
      <p:sp>
        <p:nvSpPr>
          <p:cNvPr id="5" name="ownership">
            <a:extLst xmlns:a="http://schemas.openxmlformats.org/drawingml/2006/main">
              <a:ext uri="{FF2B5EF4-FFF2-40B4-BE49-F238E27FC236}">
                <a16:creationId xmlns:a16="http://schemas.microsoft.com/office/drawing/2014/main" id="{D4E9C3B2-4D4C-43F0-9258-5C3BA8A3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104775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D4E4D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D4E4D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D4E4D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D4E4D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D4E4D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D4E4D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D4E4D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D4E4D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D4E4D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D4E4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4E4D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4E4DF"/>
                </a:solidFill>
                <a:latin typeface="Arial"/>
                <a:ea typeface="Arial"/>
                <a:cs typeface="Arial"/>
              </a:rPr>
              <a:t>Идея и требования, разработка и интеграции,</a:t>
            </a:r>
          </a:p>
          <a:p xmlns:a="http://schemas.openxmlformats.org/drawingml/2006/main">
            <a:pPr>
              <a:defRPr sz="2400" b="0">
                <a:solidFill>
                  <a:srgbClr val="D4E4D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4E4DF"/>
                </a:solidFill>
                <a:latin typeface="Arial"/>
                <a:ea typeface="Arial"/>
                <a:cs typeface="Arial"/>
              </a:rPr>
              <a:t>поддержка провайдера, тесты и пилот,</a:t>
            </a:r>
          </a:p>
          <a:p xmlns:a="http://schemas.openxmlformats.org/drawingml/2006/main">
            <a:pPr>
              <a:defRPr sz="2400" b="0">
                <a:solidFill>
                  <a:srgbClr val="D4E4D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4E4DF"/>
                </a:solidFill>
                <a:latin typeface="Arial"/>
                <a:ea typeface="Arial"/>
                <a:cs typeface="Arial"/>
              </a:rPr>
              <a:t>публикация открытого кода</a:t>
            </a:r>
          </a:p>
        </p:txBody>
      </p:sp>
      <p:sp>
        <p:nvSpPr>
          <p:cNvPr id="6" name="repo">
            <a:extLst xmlns:a="http://schemas.openxmlformats.org/drawingml/2006/main">
              <a:ext uri="{FF2B5EF4-FFF2-40B4-BE49-F238E27FC236}">
                <a16:creationId xmlns:a16="http://schemas.microsoft.com/office/drawing/2014/main" id="{0C6107CC-6A8C-437E-A194-4CB49A7D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github.com/impossi8le/messengers2amo</a:t>
            </a:r>
          </a:p>
        </p:txBody>
      </p:sp>
    </p:spTree>
    <p:extLst>
      <p:ext uri="{BB962C8B-B14F-4D97-AF65-F5344CB8AC3E}">
        <p14:creationId xmlns:p14="http://schemas.microsoft.com/office/powerpoint/2010/main" val="1132772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2026-10-29T13:54:35.3290000Z</dcterms:created>
  <dcterms:modified xsi:type="dcterms:W3CDTF">2026-10-29T13:54:35.3300000Z</dcterms:modified>
</coreProperties>
</file>